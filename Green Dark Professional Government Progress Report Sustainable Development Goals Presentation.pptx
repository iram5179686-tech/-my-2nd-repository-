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legraf" charset="1" panose="00000500000000000000"/>
      <p:regular r:id="rId19"/>
    </p:embeddedFont>
    <p:embeddedFont>
      <p:font typeface="Arimo" charset="1" panose="020B0604020202020204"/>
      <p:regular r:id="rId20"/>
    </p:embeddedFont>
    <p:embeddedFont>
      <p:font typeface="Telegraf Bold" charset="1" panose="00000800000000000000"/>
      <p:regular r:id="rId21"/>
    </p:embeddedFont>
    <p:embeddedFont>
      <p:font typeface="Arimo Italics" charset="1" panose="020B060402020209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" t="0" r="-48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62845" y="1188320"/>
            <a:ext cx="13989869" cy="6279554"/>
            <a:chOff x="0" y="0"/>
            <a:chExt cx="18653158" cy="83727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250"/>
              <a:ext cx="18392255" cy="6917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874"/>
                </a:lnSpc>
              </a:pPr>
              <a:r>
                <a:rPr lang="en-US" sz="1087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Political Developments in Pakistan </a:t>
              </a:r>
            </a:p>
            <a:p>
              <a:pPr algn="ctr">
                <a:lnSpc>
                  <a:spcPts val="7274"/>
                </a:lnSpc>
              </a:pPr>
              <a:r>
                <a:rPr lang="en-US" sz="727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 (1971-1973)  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60904" y="7311642"/>
              <a:ext cx="18392255" cy="1061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67"/>
                </a:lnSpc>
                <a:spcBef>
                  <a:spcPct val="0"/>
                </a:spcBef>
              </a:pPr>
              <a:r>
                <a:rPr lang="en-US" sz="4762" spc="95">
                  <a:solidFill>
                    <a:srgbClr val="777E3F"/>
                  </a:solidFill>
                  <a:latin typeface="Arimo"/>
                  <a:ea typeface="Arimo"/>
                  <a:cs typeface="Arimo"/>
                  <a:sym typeface="Arimo"/>
                </a:rPr>
                <a:t>Leadership of Zulfikar Ali Bhutto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3768" y="657486"/>
            <a:ext cx="534932" cy="534932"/>
          </a:xfrm>
          <a:custGeom>
            <a:avLst/>
            <a:gdLst/>
            <a:ahLst/>
            <a:cxnLst/>
            <a:rect r="r" b="b" t="t" l="l"/>
            <a:pathLst>
              <a:path h="534932" w="534932">
                <a:moveTo>
                  <a:pt x="0" y="0"/>
                </a:moveTo>
                <a:lnTo>
                  <a:pt x="534932" y="0"/>
                </a:lnTo>
                <a:lnTo>
                  <a:pt x="534932" y="534932"/>
                </a:lnTo>
                <a:lnTo>
                  <a:pt x="0" y="534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3768" y="8543849"/>
            <a:ext cx="5612502" cy="1324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41"/>
              </a:lnSpc>
            </a:pPr>
            <a:r>
              <a:rPr lang="en-US" sz="3744">
                <a:solidFill>
                  <a:srgbClr val="D9D9D9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Jawad                                              </a:t>
            </a:r>
          </a:p>
          <a:p>
            <a:pPr algn="r">
              <a:lnSpc>
                <a:spcPts val="5241"/>
              </a:lnSpc>
              <a:spcBef>
                <a:spcPct val="0"/>
              </a:spcBef>
            </a:pPr>
            <a:r>
              <a:rPr lang="en-US" sz="3744">
                <a:solidFill>
                  <a:srgbClr val="D9D9D9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Pakistan Studies </a:t>
            </a:r>
            <a:r>
              <a:rPr lang="en-US" sz="3744">
                <a:solidFill>
                  <a:srgbClr val="FFFFFF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                      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60207" y="9508626"/>
            <a:ext cx="1534025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5353" y="3827779"/>
            <a:ext cx="7177926" cy="131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3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Seperation of  East Pakistan In 1971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82281" y="3745458"/>
            <a:ext cx="7177926" cy="131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3" indent="-399411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Political  instability and national crisis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92826" y="6423545"/>
            <a:ext cx="7773773" cy="131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8820" indent="-399410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Zulfikar Ali Bhutto emerged as a key leader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60207" y="9402581"/>
            <a:ext cx="153402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5353" y="6414991"/>
            <a:ext cx="7722600" cy="13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7073" indent="-403537" lvl="1">
              <a:lnSpc>
                <a:spcPts val="5233"/>
              </a:lnSpc>
              <a:buFont typeface="Arial"/>
              <a:buChar char="•"/>
            </a:pPr>
            <a:r>
              <a:rPr lang="en-US" sz="3738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Need for strong leadership and reforms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3768" y="657486"/>
            <a:ext cx="473823" cy="473823"/>
          </a:xfrm>
          <a:custGeom>
            <a:avLst/>
            <a:gdLst/>
            <a:ahLst/>
            <a:cxnLst/>
            <a:rect r="r" b="b" t="t" l="l"/>
            <a:pathLst>
              <a:path h="473823" w="473823">
                <a:moveTo>
                  <a:pt x="0" y="0"/>
                </a:moveTo>
                <a:lnTo>
                  <a:pt x="473823" y="0"/>
                </a:lnTo>
                <a:lnTo>
                  <a:pt x="473823" y="473823"/>
                </a:lnTo>
                <a:lnTo>
                  <a:pt x="0" y="4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52153" y="884873"/>
            <a:ext cx="5583694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BACKGROUND </a:t>
            </a:r>
          </a:p>
          <a:p>
            <a:pPr algn="l">
              <a:lnSpc>
                <a:spcPts val="6599"/>
              </a:lnSpc>
            </a:pPr>
            <a:r>
              <a:rPr lang="en-US" sz="5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(1971 CRISIS)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0211" y="5952988"/>
            <a:ext cx="8021409" cy="111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428" indent="-340214" lvl="1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Took charge after military defeat Faced</a:t>
            </a:r>
            <a:r>
              <a:rPr lang="en-US" sz="3151">
                <a:gradFill>
                  <a:gsLst>
                    <a:gs pos="0">
                      <a:srgbClr val="CDFFD8">
                        <a:alpha val="70000"/>
                      </a:srgbClr>
                    </a:gs>
                    <a:gs pos="100000">
                      <a:srgbClr val="94B9FF">
                        <a:alpha val="70000"/>
                      </a:srgbClr>
                    </a:gs>
                  </a:gsLst>
                  <a:lin ang="0"/>
                </a:gra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151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economic, political, and social challenges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69210" y="2092900"/>
            <a:ext cx="7349579" cy="207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47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BHUTTO’S ASCENSION AS PRESIDENT</a:t>
            </a:r>
          </a:p>
          <a:p>
            <a:pPr algn="ctr">
              <a:lnSpc>
                <a:spcPts val="5279"/>
              </a:lnSpc>
            </a:pPr>
            <a:r>
              <a:rPr lang="en-US" sz="47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(DEC 1971)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0211" y="4469694"/>
            <a:ext cx="5821662" cy="10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Bhutto became President in December 1971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0211" y="7781532"/>
            <a:ext cx="5821662" cy="10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Aimed to restore national confidence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93768" y="657486"/>
            <a:ext cx="473823" cy="473823"/>
          </a:xfrm>
          <a:custGeom>
            <a:avLst/>
            <a:gdLst/>
            <a:ahLst/>
            <a:cxnLst/>
            <a:rect r="r" b="b" t="t" l="l"/>
            <a:pathLst>
              <a:path h="473823" w="473823">
                <a:moveTo>
                  <a:pt x="0" y="0"/>
                </a:moveTo>
                <a:lnTo>
                  <a:pt x="473823" y="0"/>
                </a:lnTo>
                <a:lnTo>
                  <a:pt x="473823" y="473823"/>
                </a:lnTo>
                <a:lnTo>
                  <a:pt x="0" y="4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768" y="657486"/>
            <a:ext cx="473823" cy="473823"/>
          </a:xfrm>
          <a:custGeom>
            <a:avLst/>
            <a:gdLst/>
            <a:ahLst/>
            <a:cxnLst/>
            <a:rect r="r" b="b" t="t" l="l"/>
            <a:pathLst>
              <a:path h="473823" w="473823">
                <a:moveTo>
                  <a:pt x="0" y="0"/>
                </a:moveTo>
                <a:lnTo>
                  <a:pt x="473823" y="0"/>
                </a:lnTo>
                <a:lnTo>
                  <a:pt x="473823" y="473823"/>
                </a:lnTo>
                <a:lnTo>
                  <a:pt x="0" y="4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6838" y="3527060"/>
            <a:ext cx="7102595" cy="4524065"/>
            <a:chOff x="0" y="0"/>
            <a:chExt cx="9470126" cy="603208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80196" y="-200025"/>
              <a:ext cx="9289931" cy="1904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67999" indent="-383999" lvl="1">
                <a:lnSpc>
                  <a:spcPts val="5904"/>
                </a:lnSpc>
                <a:buFont typeface="Arial"/>
                <a:buChar char="•"/>
              </a:pPr>
              <a:r>
                <a:rPr lang="en-US" sz="3557">
                  <a:solidFill>
                    <a:srgbClr val="7ED957"/>
                  </a:solidFill>
                  <a:latin typeface="Telegraf"/>
                  <a:ea typeface="Telegraf"/>
                  <a:cs typeface="Telegraf"/>
                  <a:sym typeface="Telegraf"/>
                </a:rPr>
                <a:t>Emergency  declared to stabilize the country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98062"/>
              <a:ext cx="9343402" cy="2334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26117" indent="-363059" lvl="1">
                <a:lnSpc>
                  <a:spcPts val="4708"/>
                </a:lnSpc>
                <a:buFont typeface="Arial"/>
                <a:buChar char="•"/>
              </a:pPr>
              <a:r>
                <a:rPr lang="en-US" sz="3363">
                  <a:solidFill>
                    <a:srgbClr val="7ED957"/>
                  </a:solidFill>
                  <a:latin typeface="Arimo"/>
                  <a:ea typeface="Arimo"/>
                  <a:cs typeface="Arimo"/>
                  <a:sym typeface="Arimo"/>
                </a:rPr>
                <a:t>Central authority  strengthened Focus on  law, order, and governance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888973" y="4764640"/>
            <a:ext cx="7627017" cy="116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4688" indent="-357344" lvl="1">
              <a:lnSpc>
                <a:spcPts val="4634"/>
              </a:lnSpc>
              <a:buFont typeface="Arial"/>
              <a:buChar char="•"/>
            </a:pPr>
            <a:r>
              <a:rPr lang="en-US" sz="3310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Temporary step during national recovery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60207" y="9508626"/>
            <a:ext cx="1534025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94684" y="638436"/>
            <a:ext cx="5501705" cy="245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5"/>
              </a:lnSpc>
            </a:pPr>
            <a:r>
              <a:rPr lang="en-US" sz="5641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Imposition of Emergency Rule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92287" y="9626212"/>
            <a:ext cx="153402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8026564"/>
            <a:ext cx="5838862" cy="143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Improved Pakistan’s international standing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93768" y="657486"/>
            <a:ext cx="473823" cy="473823"/>
          </a:xfrm>
          <a:custGeom>
            <a:avLst/>
            <a:gdLst/>
            <a:ahLst/>
            <a:cxnLst/>
            <a:rect r="r" b="b" t="t" l="l"/>
            <a:pathLst>
              <a:path h="473823" w="473823">
                <a:moveTo>
                  <a:pt x="0" y="0"/>
                </a:moveTo>
                <a:lnTo>
                  <a:pt x="473823" y="0"/>
                </a:lnTo>
                <a:lnTo>
                  <a:pt x="473823" y="473823"/>
                </a:lnTo>
                <a:lnTo>
                  <a:pt x="0" y="4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506400" y="657486"/>
            <a:ext cx="7275201" cy="2771273"/>
            <a:chOff x="0" y="0"/>
            <a:chExt cx="9700267" cy="369503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700267" cy="2797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60"/>
                </a:lnSpc>
              </a:pPr>
              <a:r>
                <a:rPr lang="en-US" sz="4872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DIPLOMATIC NEGOTIATIONS</a:t>
              </a:r>
            </a:p>
            <a:p>
              <a:pPr algn="ctr">
                <a:lnSpc>
                  <a:spcPts val="5360"/>
                </a:lnSpc>
              </a:pPr>
              <a:r>
                <a:rPr lang="en-US" sz="4872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with INDIA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948358" y="2967458"/>
              <a:ext cx="6465745" cy="727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4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7591" y="3704589"/>
            <a:ext cx="7163027" cy="143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Post-war situation required peace talks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5048250"/>
            <a:ext cx="6425895" cy="143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Bhutto led diplomatic efforts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682902"/>
            <a:ext cx="5838862" cy="143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Focus on prisoners of war and territories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54681"/>
            <a:ext cx="6331651" cy="119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1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Signed between Pakistan and India in 1972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499142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Simla Agreement 1972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013839"/>
            <a:ext cx="5883431" cy="124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6834" indent="-378417" lvl="1">
              <a:lnSpc>
                <a:spcPts val="4907"/>
              </a:lnSpc>
              <a:buFont typeface="Arial"/>
              <a:buChar char="•"/>
            </a:pPr>
            <a:r>
              <a:rPr lang="en-US" sz="3505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Strengthened diplomatic relations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78271" y="5143500"/>
            <a:ext cx="6637099" cy="2131281"/>
            <a:chOff x="0" y="0"/>
            <a:chExt cx="8849465" cy="284170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7385659" cy="1381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77258" indent="-388629" lvl="1">
                <a:lnSpc>
                  <a:spcPts val="3960"/>
                </a:lnSpc>
                <a:buFont typeface="Arial"/>
                <a:buChar char="•"/>
              </a:pPr>
              <a:r>
                <a:rPr lang="en-US" sz="3600">
                  <a:solidFill>
                    <a:srgbClr val="7ED957"/>
                  </a:solidFill>
                  <a:latin typeface="Telegraf"/>
                  <a:ea typeface="Telegraf"/>
                  <a:cs typeface="Telegraf"/>
                  <a:sym typeface="Telegraf"/>
                </a:rPr>
                <a:t>Agreement to resolve disputes peacefully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74889" y="2060257"/>
              <a:ext cx="8574576" cy="78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46353" indent="-373176" lvl="1">
                <a:lnSpc>
                  <a:spcPts val="4839"/>
                </a:lnSpc>
                <a:buFont typeface="Arial"/>
                <a:buChar char="•"/>
              </a:pPr>
              <a:r>
                <a:rPr lang="en-US" sz="3456">
                  <a:solidFill>
                    <a:srgbClr val="7ED957"/>
                  </a:solidFill>
                  <a:latin typeface="Arimo"/>
                  <a:ea typeface="Arimo"/>
                  <a:cs typeface="Arimo"/>
                  <a:sym typeface="Arimo"/>
                </a:rPr>
                <a:t>Returns of prisoners of wars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46205" y="3973067"/>
            <a:ext cx="5828480" cy="128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One-Unit System officially abolished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65673" y="714375"/>
            <a:ext cx="6756653" cy="229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9"/>
              </a:lnSpc>
            </a:pPr>
            <a:r>
              <a:rPr lang="en-US" sz="54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Abolition of One-Unit System(1972)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46205" y="6877080"/>
            <a:ext cx="496760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980"/>
              </a:lnSpc>
              <a:buFont typeface="Arial"/>
              <a:buChar char="•"/>
            </a:pPr>
            <a:r>
              <a:rPr lang="en-US" sz="3000">
                <a:solidFill>
                  <a:srgbClr val="7ED957"/>
                </a:solidFill>
                <a:latin typeface="Telegraf"/>
                <a:ea typeface="Telegraf"/>
                <a:cs typeface="Telegraf"/>
                <a:sym typeface="Telegraf"/>
              </a:rPr>
              <a:t>Provinces restroed: Punjab, Sindh, KPK,Balochistan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45462" y="3768089"/>
            <a:ext cx="5470772" cy="148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975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Telegraf"/>
                <a:ea typeface="Telegraf"/>
                <a:cs typeface="Telegraf"/>
                <a:sym typeface="Telegraf"/>
              </a:rPr>
              <a:t>Increased provincial autonomy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89759" y="7274081"/>
            <a:ext cx="5069541" cy="148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975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Telegraf"/>
                <a:ea typeface="Telegraf"/>
                <a:cs typeface="Telegraf"/>
                <a:sym typeface="Telegraf"/>
              </a:rPr>
              <a:t>Strengthened federal  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53262" y="9662160"/>
            <a:ext cx="634738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</a:pPr>
            <a:r>
              <a:rPr lang="en-US" sz="3000" u="sng">
                <a:solidFill>
                  <a:srgbClr val="4BAF82"/>
                </a:solidFill>
                <a:latin typeface="Telegraf"/>
                <a:ea typeface="Telegraf"/>
                <a:cs typeface="Telegraf"/>
                <a:sym typeface="Telegraf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768" y="657486"/>
            <a:ext cx="473823" cy="473823"/>
          </a:xfrm>
          <a:custGeom>
            <a:avLst/>
            <a:gdLst/>
            <a:ahLst/>
            <a:cxnLst/>
            <a:rect r="r" b="b" t="t" l="l"/>
            <a:pathLst>
              <a:path h="473823" w="473823">
                <a:moveTo>
                  <a:pt x="0" y="0"/>
                </a:moveTo>
                <a:lnTo>
                  <a:pt x="473823" y="0"/>
                </a:lnTo>
                <a:lnTo>
                  <a:pt x="473823" y="473823"/>
                </a:lnTo>
                <a:lnTo>
                  <a:pt x="0" y="4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6928" y="894397"/>
            <a:ext cx="7034143" cy="3676203"/>
            <a:chOff x="0" y="0"/>
            <a:chExt cx="9378858" cy="490160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378858" cy="299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4"/>
                </a:lnSpc>
              </a:pPr>
              <a:r>
                <a:rPr lang="en-US" sz="5213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IMPORTANCE OF PROVINCIAL AUTONOMY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731954"/>
              <a:ext cx="9378858" cy="1169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9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34788" y="6602534"/>
            <a:ext cx="4967600" cy="148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975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Telegraf"/>
                <a:ea typeface="Telegraf"/>
                <a:cs typeface="Telegraf"/>
                <a:sym typeface="Telegraf"/>
              </a:rPr>
              <a:t>Improved political participations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4558" y="4136707"/>
            <a:ext cx="4688061" cy="128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Reduced regional grievences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52680" y="6602534"/>
            <a:ext cx="5191232" cy="148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975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Telegraf"/>
                <a:ea typeface="Telegraf"/>
                <a:cs typeface="Telegraf"/>
                <a:sym typeface="Telegraf"/>
              </a:rPr>
              <a:t>Promoted national unity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54094" y="4136707"/>
            <a:ext cx="5916482" cy="128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Balanced power between center and provinces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97785" y="9574780"/>
            <a:ext cx="1728528" cy="49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43"/>
              </a:lnSpc>
              <a:spcBef>
                <a:spcPct val="0"/>
              </a:spcBef>
            </a:pPr>
            <a:r>
              <a:rPr lang="en-US" sz="2816">
                <a:solidFill>
                  <a:srgbClr val="4C9F38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768" y="657486"/>
            <a:ext cx="473823" cy="473823"/>
          </a:xfrm>
          <a:custGeom>
            <a:avLst/>
            <a:gdLst/>
            <a:ahLst/>
            <a:cxnLst/>
            <a:rect r="r" b="b" t="t" l="l"/>
            <a:pathLst>
              <a:path h="473823" w="473823">
                <a:moveTo>
                  <a:pt x="0" y="0"/>
                </a:moveTo>
                <a:lnTo>
                  <a:pt x="473823" y="0"/>
                </a:lnTo>
                <a:lnTo>
                  <a:pt x="473823" y="473823"/>
                </a:lnTo>
                <a:lnTo>
                  <a:pt x="0" y="4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11455" y="9514665"/>
            <a:ext cx="1895690" cy="54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36282" y="1131309"/>
            <a:ext cx="5015436" cy="2632666"/>
            <a:chOff x="0" y="0"/>
            <a:chExt cx="6687247" cy="35102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6687247" cy="2590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sz="45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DRAFTING OF THE 1973 CONSTITUTIONS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094931"/>
              <a:ext cx="6687247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25842" y="5200071"/>
            <a:ext cx="6085451" cy="223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975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Telegraf"/>
                <a:ea typeface="Telegraf"/>
                <a:cs typeface="Telegraf"/>
                <a:sym typeface="Telegraf"/>
              </a:rPr>
              <a:t>Constitution drafted under Bhutto’s leadership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36282" y="7362776"/>
            <a:ext cx="5249939" cy="223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975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Telegraf"/>
                <a:ea typeface="Telegraf"/>
                <a:cs typeface="Telegraf"/>
                <a:sym typeface="Telegraf"/>
              </a:rPr>
              <a:t>Approved by National Assembly Enforcrd  in 1973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68900" y="5295321"/>
            <a:ext cx="5890400" cy="128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consensus-based document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768" y="657486"/>
            <a:ext cx="473823" cy="473823"/>
          </a:xfrm>
          <a:custGeom>
            <a:avLst/>
            <a:gdLst/>
            <a:ahLst/>
            <a:cxnLst/>
            <a:rect r="r" b="b" t="t" l="l"/>
            <a:pathLst>
              <a:path h="473823" w="473823">
                <a:moveTo>
                  <a:pt x="0" y="0"/>
                </a:moveTo>
                <a:lnTo>
                  <a:pt x="473823" y="0"/>
                </a:lnTo>
                <a:lnTo>
                  <a:pt x="473823" y="473823"/>
                </a:lnTo>
                <a:lnTo>
                  <a:pt x="0" y="4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40752" y="9771657"/>
            <a:ext cx="1837096" cy="51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1"/>
              </a:lnSpc>
              <a:spcBef>
                <a:spcPct val="0"/>
              </a:spcBef>
            </a:pPr>
            <a:r>
              <a:rPr lang="en-US" sz="2993">
                <a:solidFill>
                  <a:srgbClr val="FFFFFF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41490" y="1131309"/>
            <a:ext cx="10005021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Features of the 1973 Constitutions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64663" y="7174615"/>
            <a:ext cx="7294637" cy="191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Fundamental rights guaranteed </a:t>
            </a:r>
          </a:p>
          <a:p>
            <a:pPr algn="l" marL="777234" indent="-388617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Federal system with provincial autonomy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054" y="4794424"/>
            <a:ext cx="8730826" cy="198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7641" indent="-403821" lvl="1">
              <a:lnSpc>
                <a:spcPts val="5237"/>
              </a:lnSpc>
              <a:buFont typeface="Arial"/>
              <a:buChar char="•"/>
            </a:pPr>
            <a:r>
              <a:rPr lang="en-US" sz="3740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Parliamentary system of government </a:t>
            </a:r>
          </a:p>
          <a:p>
            <a:pPr algn="l" marL="807641" indent="-403821" lvl="1">
              <a:lnSpc>
                <a:spcPts val="5237"/>
              </a:lnSpc>
              <a:buFont typeface="Arial"/>
              <a:buChar char="•"/>
            </a:pPr>
            <a:r>
              <a:rPr lang="en-US" sz="3740">
                <a:solidFill>
                  <a:srgbClr val="7ED957"/>
                </a:solidFill>
                <a:latin typeface="Arimo"/>
                <a:ea typeface="Arimo"/>
                <a:cs typeface="Arimo"/>
                <a:sym typeface="Arimo"/>
              </a:rPr>
              <a:t>Prime Minister as head of government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768" y="657486"/>
            <a:ext cx="473823" cy="473823"/>
          </a:xfrm>
          <a:custGeom>
            <a:avLst/>
            <a:gdLst/>
            <a:ahLst/>
            <a:cxnLst/>
            <a:rect r="r" b="b" t="t" l="l"/>
            <a:pathLst>
              <a:path h="473823" w="473823">
                <a:moveTo>
                  <a:pt x="0" y="0"/>
                </a:moveTo>
                <a:lnTo>
                  <a:pt x="473823" y="0"/>
                </a:lnTo>
                <a:lnTo>
                  <a:pt x="473823" y="473823"/>
                </a:lnTo>
                <a:lnTo>
                  <a:pt x="0" y="4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15181" y="5048250"/>
            <a:ext cx="4900641" cy="296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Strengthened democracy</a:t>
            </a:r>
          </a:p>
          <a:p>
            <a:pPr algn="just" marL="906767" indent="-453384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Provided political stability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01486" y="9742952"/>
            <a:ext cx="1915628" cy="54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70"/>
              </a:lnSpc>
              <a:spcBef>
                <a:spcPct val="0"/>
              </a:spcBef>
            </a:pPr>
            <a:r>
              <a:rPr lang="en-US" sz="3121">
                <a:solidFill>
                  <a:srgbClr val="4C9F38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20784" y="5048250"/>
            <a:ext cx="5580702" cy="319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Defined roles of state institutions  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7ED957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Still Pakistan’s current constitutions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5346988" y="1487432"/>
            <a:ext cx="7258576" cy="5088629"/>
            <a:chOff x="0" y="0"/>
            <a:chExt cx="9678101" cy="678483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678101" cy="3032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29"/>
                </a:lnSpc>
              </a:pPr>
              <a:r>
                <a:rPr lang="en-US" sz="5299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SIGNIFICANCE OF THE 1973 CONSTITUTION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417510"/>
              <a:ext cx="8333193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369549"/>
              <a:ext cx="8333193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0824" y="1028700"/>
            <a:ext cx="6006353" cy="2162153"/>
            <a:chOff x="0" y="0"/>
            <a:chExt cx="8008470" cy="288287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379527"/>
              <a:ext cx="430199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8008470" cy="1316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50"/>
                </a:lnSpc>
              </a:pPr>
              <a:r>
                <a:rPr lang="en-US" sz="6500">
                  <a:solidFill>
                    <a:srgbClr val="7D8285"/>
                  </a:solidFill>
                  <a:latin typeface="Telegraf"/>
                  <a:ea typeface="Telegraf"/>
                  <a:cs typeface="Telegraf"/>
                  <a:sym typeface="Telegraf"/>
                </a:rPr>
                <a:t>CONCLUSION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86227" y="3328759"/>
            <a:ext cx="9850993" cy="439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2"/>
              </a:lnSpc>
            </a:pPr>
            <a:r>
              <a:rPr lang="en-US" sz="3551">
                <a:solidFill>
                  <a:srgbClr val="4C9F38"/>
                </a:solidFill>
                <a:latin typeface="Arimo"/>
                <a:ea typeface="Arimo"/>
                <a:cs typeface="Arimo"/>
                <a:sym typeface="Arimo"/>
              </a:rPr>
              <a:t>Bhutto played a major role in rebuilding Pakistan </a:t>
            </a:r>
          </a:p>
          <a:p>
            <a:pPr algn="just">
              <a:lnSpc>
                <a:spcPts val="4972"/>
              </a:lnSpc>
            </a:pPr>
          </a:p>
          <a:p>
            <a:pPr algn="just">
              <a:lnSpc>
                <a:spcPts val="4972"/>
              </a:lnSpc>
            </a:pPr>
            <a:r>
              <a:rPr lang="en-US" sz="3551">
                <a:solidFill>
                  <a:srgbClr val="4C9F38"/>
                </a:solidFill>
                <a:latin typeface="Arimo"/>
                <a:ea typeface="Arimo"/>
                <a:cs typeface="Arimo"/>
                <a:sym typeface="Arimo"/>
              </a:rPr>
              <a:t>Political, constitutional, and diplomatic reforms </a:t>
            </a:r>
          </a:p>
          <a:p>
            <a:pPr algn="just">
              <a:lnSpc>
                <a:spcPts val="4972"/>
              </a:lnSpc>
            </a:pPr>
          </a:p>
          <a:p>
            <a:pPr algn="just">
              <a:lnSpc>
                <a:spcPts val="4972"/>
              </a:lnSpc>
            </a:pPr>
            <a:r>
              <a:rPr lang="en-US" sz="3551">
                <a:solidFill>
                  <a:srgbClr val="4C9F38"/>
                </a:solidFill>
                <a:latin typeface="Arimo"/>
                <a:ea typeface="Arimo"/>
                <a:cs typeface="Arimo"/>
                <a:sym typeface="Arimo"/>
              </a:rPr>
              <a:t>1971-1973 was a turning point in history </a:t>
            </a:r>
          </a:p>
          <a:p>
            <a:pPr algn="just">
              <a:lnSpc>
                <a:spcPts val="4972"/>
              </a:lnSpc>
            </a:pPr>
          </a:p>
          <a:p>
            <a:pPr algn="just">
              <a:lnSpc>
                <a:spcPts val="4972"/>
              </a:lnSpc>
              <a:spcBef>
                <a:spcPct val="0"/>
              </a:spcBef>
            </a:pPr>
            <a:r>
              <a:rPr lang="en-US" sz="3551">
                <a:solidFill>
                  <a:srgbClr val="4C9F38"/>
                </a:solidFill>
                <a:latin typeface="Arimo"/>
                <a:ea typeface="Arimo"/>
                <a:cs typeface="Arimo"/>
                <a:sym typeface="Arimo"/>
              </a:rPr>
              <a:t>Lasting impact on Pakistan’s political system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8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47938" y="989227"/>
            <a:ext cx="12006618" cy="780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5"/>
              </a:lnSpc>
              <a:spcBef>
                <a:spcPct val="0"/>
              </a:spcBef>
            </a:pPr>
            <a:r>
              <a:rPr lang="en-US" sz="22175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DAG86FNx8xY</dc:identifier>
  <dcterms:modified xsi:type="dcterms:W3CDTF">2011-08-01T06:04:30Z</dcterms:modified>
  <cp:revision>1</cp:revision>
  <dc:title>Green Dark Professional Government Progress Report Sustainable Development Goals Presentation</dc:title>
</cp:coreProperties>
</file>